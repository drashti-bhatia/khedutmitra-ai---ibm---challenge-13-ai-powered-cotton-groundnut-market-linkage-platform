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71" r:id="rId11"/>
    <p:sldId id="264" r:id="rId12"/>
    <p:sldId id="269" r:id="rId13"/>
    <p:sldId id="272" r:id="rId14"/>
    <p:sldId id="275" r:id="rId15"/>
    <p:sldId id="280" r:id="rId16"/>
    <p:sldId id="276" r:id="rId17"/>
    <p:sldId id="277" r:id="rId18"/>
    <p:sldId id="278" r:id="rId19"/>
    <p:sldId id="279" r:id="rId20"/>
    <p:sldId id="265" r:id="rId21"/>
    <p:sldId id="266" r:id="rId22"/>
    <p:sldId id="267" r:id="rId23"/>
    <p:sldId id="268" r:id="rId24"/>
  </p:sldIdLst>
  <p:sldSz cx="18288000" cy="10287000"/>
  <p:notesSz cx="6858000" cy="9144000"/>
  <p:embeddedFontLst>
    <p:embeddedFont>
      <p:font typeface="Tw Cen MT" panose="020B0602020104020603" pitchFamily="34" charset="0"/>
      <p:regular r:id="rId25"/>
      <p:bold r:id="rId26"/>
      <p:italic r:id="rId27"/>
      <p:boldItalic r:id="rId28"/>
    </p:embeddedFont>
    <p:embeddedFont>
      <p:font typeface="Arimo" panose="020B0604020202020204" charset="0"/>
      <p:regular r:id="rId29"/>
    </p:embeddedFont>
    <p:embeddedFont>
      <p:font typeface="Times New Roman Bold" panose="02020803070505020304" pitchFamily="18" charset="0"/>
      <p:bold r:id="rId30"/>
    </p:embeddedFont>
    <p:embeddedFont>
      <p:font typeface="Canva Sans Bold" panose="020B0604020202020204" charset="0"/>
      <p:regular r:id="rId31"/>
    </p:embeddedFont>
    <p:embeddedFont>
      <p:font typeface="Arial Bold" panose="020B0704020202020204" pitchFamily="34" charset="0"/>
      <p:bold r:id="rId32"/>
    </p:embeddedFont>
    <p:embeddedFont>
      <p:font typeface="Canva San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3" autoAdjust="0"/>
    <p:restoredTop sz="94622" autoAdjust="0"/>
  </p:normalViewPr>
  <p:slideViewPr>
    <p:cSldViewPr>
      <p:cViewPr varScale="1">
        <p:scale>
          <a:sx n="46" d="100"/>
          <a:sy n="46" d="100"/>
        </p:scale>
        <p:origin x="83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1951178"/>
            <a:ext cx="13034964" cy="376382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1"/>
            <a:ext cx="13034964" cy="2057399"/>
          </a:xfrm>
        </p:spPr>
        <p:txBody>
          <a:bodyPr>
            <a:normAutofit/>
          </a:bodyPr>
          <a:lstStyle>
            <a:lvl1pPr marL="0" indent="0" algn="ctr">
              <a:buNone/>
              <a:defRPr sz="3300">
                <a:solidFill>
                  <a:schemeClr val="bg1">
                    <a:lumMod val="50000"/>
                  </a:schemeClr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0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370661" y="3550639"/>
            <a:ext cx="15545739" cy="51361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9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1" y="1242845"/>
            <a:ext cx="15527628" cy="4105229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61" y="5486186"/>
            <a:ext cx="15527628" cy="2052275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bg1">
                    <a:lumMod val="50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1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370661" y="3550639"/>
            <a:ext cx="7659039" cy="51361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9258300" y="3550639"/>
            <a:ext cx="7658100" cy="51361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0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492" y="3556527"/>
            <a:ext cx="7310211" cy="1019991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9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370662" y="4576519"/>
            <a:ext cx="7659041" cy="41102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594635" y="3556527"/>
            <a:ext cx="7322706" cy="1019991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9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9258301" y="4576519"/>
            <a:ext cx="7658102" cy="41102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2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3" y="914400"/>
            <a:ext cx="5903532" cy="3034878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7617094" y="914401"/>
            <a:ext cx="9300245" cy="77723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2" y="3949278"/>
            <a:ext cx="5903534" cy="4737522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1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2" y="914400"/>
            <a:ext cx="8902454" cy="3034881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37205" y="914402"/>
            <a:ext cx="4883037" cy="77724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3949278"/>
            <a:ext cx="8902424" cy="4737521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3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1" y="6434061"/>
            <a:ext cx="15546648" cy="121741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77116" y="1047392"/>
            <a:ext cx="14733798" cy="4821204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1" y="7663092"/>
            <a:ext cx="15546678" cy="1023708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0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1" y="914399"/>
            <a:ext cx="15546678" cy="5140868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3" y="6307232"/>
            <a:ext cx="15546678" cy="237957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2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400"/>
            <a:ext cx="13954128" cy="448935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415048"/>
            <a:ext cx="13128449" cy="892182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1" y="6559195"/>
            <a:ext cx="15546678" cy="21315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02232" y="113124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36337" y="44903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7523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3" y="3208082"/>
            <a:ext cx="15546678" cy="376775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3" y="6993503"/>
            <a:ext cx="15546678" cy="1710966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84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70661" y="914400"/>
            <a:ext cx="15546678" cy="240764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70661" y="3550640"/>
            <a:ext cx="4948464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70661" y="4415033"/>
            <a:ext cx="4948464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8584" y="3550640"/>
            <a:ext cx="493728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662023" y="4415033"/>
            <a:ext cx="4955027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9947" y="3550640"/>
            <a:ext cx="495739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959947" y="4415033"/>
            <a:ext cx="4957392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13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370661" y="916158"/>
            <a:ext cx="15546678" cy="240588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70662" y="6307230"/>
            <a:ext cx="4944614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70662" y="3550640"/>
            <a:ext cx="4944614" cy="2286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70662" y="7171623"/>
            <a:ext cx="4944614" cy="1515177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4139" y="6307230"/>
            <a:ext cx="495274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662022" y="3550640"/>
            <a:ext cx="4955028" cy="2286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62022" y="7171621"/>
            <a:ext cx="4955028" cy="1515179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9948" y="6307230"/>
            <a:ext cx="495102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959947" y="3550640"/>
            <a:ext cx="4957392" cy="2286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59760" y="7171618"/>
            <a:ext cx="4957580" cy="151518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6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370663" y="3550640"/>
            <a:ext cx="15546678" cy="513616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20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914402"/>
            <a:ext cx="3829989" cy="77723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370663" y="914402"/>
            <a:ext cx="11488086" cy="77723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3000">
              <a:srgbClr val="CBE8C0"/>
            </a:gs>
            <a:gs pos="0">
              <a:srgbClr val="92D050"/>
            </a:gs>
            <a:gs pos="35000">
              <a:schemeClr val="accent1">
                <a:lumMod val="45000"/>
                <a:lumOff val="55000"/>
              </a:schemeClr>
            </a:gs>
            <a:gs pos="90000">
              <a:srgbClr val="BDE2A4"/>
            </a:gs>
            <a:gs pos="100000">
              <a:srgbClr val="92D050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63" y="3550640"/>
            <a:ext cx="15546678" cy="51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18106" y="8824913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0662" y="8824913"/>
            <a:ext cx="1000933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7" y="8824913"/>
            <a:ext cx="114632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0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tx1"/>
        </a:buClr>
        <a:buFont typeface="Arial" panose="020B0604020202020204" pitchFamily="34" charset="0"/>
        <a:buChar char="•"/>
        <a:defRPr sz="3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7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rashti-bhatia/KhedutMitra-AI---IBM---Challenge-13-AI-Powered-Cotton-Groundnut-Market-Linkage-Platform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187057" y="1490791"/>
            <a:ext cx="1072243" cy="107224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8D0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18999" y="7406379"/>
            <a:ext cx="1640301" cy="16403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498649" y="7928131"/>
            <a:ext cx="1328898" cy="596796"/>
          </a:xfrm>
          <a:custGeom>
            <a:avLst/>
            <a:gdLst/>
            <a:ahLst/>
            <a:cxnLst/>
            <a:rect l="l" t="t" r="r" b="b"/>
            <a:pathLst>
              <a:path w="1328898" h="596796">
                <a:moveTo>
                  <a:pt x="0" y="0"/>
                </a:moveTo>
                <a:lnTo>
                  <a:pt x="1328898" y="0"/>
                </a:lnTo>
                <a:lnTo>
                  <a:pt x="1328898" y="596796"/>
                </a:lnTo>
                <a:lnTo>
                  <a:pt x="0" y="596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115810" y="7194759"/>
            <a:ext cx="2063541" cy="20635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61990" y="-2085691"/>
            <a:ext cx="4385590" cy="43855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AF13">
                    <a:alpha val="100000"/>
                  </a:srgbClr>
                </a:gs>
                <a:gs pos="100000">
                  <a:srgbClr val="C1FF7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770881" y="-6591711"/>
            <a:ext cx="15069372" cy="1506937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64369" y="2830635"/>
            <a:ext cx="11268482" cy="15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6"/>
              </a:lnSpc>
            </a:pPr>
            <a:r>
              <a:rPr lang="en-US" sz="6404" b="1" spc="-230" dirty="0">
                <a:gradFill>
                  <a:gsLst>
                    <a:gs pos="0">
                      <a:srgbClr val="85AF13">
                        <a:alpha val="100000"/>
                      </a:srgbClr>
                    </a:gs>
                    <a:gs pos="100000">
                      <a:srgbClr val="C1FF72">
                        <a:alpha val="100000"/>
                      </a:srgbClr>
                    </a:gs>
                  </a:gsLst>
                  <a:lin ang="0"/>
                </a:gradFill>
                <a:latin typeface="Arial Bold"/>
                <a:ea typeface="Arial Bold"/>
                <a:cs typeface="Arial Bold"/>
                <a:sym typeface="Arial Bold"/>
              </a:rPr>
              <a:t>IBM University Engagement Project Submission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65671" y="7921893"/>
            <a:ext cx="1363819" cy="7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3"/>
              </a:lnSpc>
            </a:pPr>
            <a:r>
              <a:rPr lang="en-US" sz="3015" spc="-87">
                <a:solidFill>
                  <a:srgbClr val="131901"/>
                </a:solidFill>
                <a:latin typeface="Arial"/>
                <a:ea typeface="Arial"/>
                <a:cs typeface="Arial"/>
                <a:sym typeface="Arial"/>
              </a:rPr>
              <a:t>LET’S</a:t>
            </a:r>
          </a:p>
          <a:p>
            <a:pPr algn="ctr">
              <a:lnSpc>
                <a:spcPts val="2593"/>
              </a:lnSpc>
            </a:pPr>
            <a:r>
              <a:rPr lang="en-US" sz="3015" spc="-87">
                <a:solidFill>
                  <a:srgbClr val="13190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4369" y="4671196"/>
            <a:ext cx="11091882" cy="88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5"/>
              </a:lnSpc>
              <a:spcBef>
                <a:spcPct val="0"/>
              </a:spcBef>
            </a:pPr>
            <a:r>
              <a:rPr lang="en-US" sz="2560" b="1" spc="25" dirty="0">
                <a:solidFill>
                  <a:srgbClr val="131901"/>
                </a:solidFill>
                <a:latin typeface="Arial Bold"/>
                <a:ea typeface="Arial Bold"/>
                <a:cs typeface="Arial Bold"/>
                <a:sym typeface="Arial Bold"/>
              </a:rPr>
              <a:t>“Exploring the Power of Agentic AI with IBM Granite and Lang Flow”</a:t>
            </a:r>
          </a:p>
          <a:p>
            <a:pPr algn="l">
              <a:lnSpc>
                <a:spcPts val="3585"/>
              </a:lnSpc>
              <a:spcBef>
                <a:spcPct val="0"/>
              </a:spcBef>
            </a:pPr>
            <a:endParaRPr lang="en-US" sz="2560" b="1" spc="25" dirty="0">
              <a:solidFill>
                <a:srgbClr val="13190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264369" y="5390383"/>
            <a:ext cx="93925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KhedutMitra AI — AI-Powered Cotton &amp; Groundnut Market Linkage Platform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0" y="45720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50839"/>
              </p:ext>
            </p:extLst>
          </p:nvPr>
        </p:nvGraphicFramePr>
        <p:xfrm>
          <a:off x="1028700" y="2442890"/>
          <a:ext cx="15846949" cy="7196410"/>
        </p:xfrm>
        <a:graphic>
          <a:graphicData uri="http://schemas.openxmlformats.org/drawingml/2006/table">
            <a:tbl>
              <a:tblPr/>
              <a:tblGrid>
                <a:gridCol w="4626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835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Student’s Name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Recent Passport Photo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Email Id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Mobile Number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042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Singhaniya Kasak P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kasaksinghaniya5@gmail.com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8799610059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632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Bhatiya Drashti K.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059"/>
                        </a:lnSpc>
                      </a:pP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bhatiagrishti@gmail.com</a:t>
                      </a:r>
                      <a:endParaRPr 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 9427844354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6415411" y="4656704"/>
            <a:ext cx="1612575" cy="2159698"/>
          </a:xfrm>
          <a:custGeom>
            <a:avLst/>
            <a:gdLst/>
            <a:ahLst/>
            <a:cxnLst/>
            <a:rect l="l" t="t" r="r" b="b"/>
            <a:pathLst>
              <a:path w="1612575" h="2159698">
                <a:moveTo>
                  <a:pt x="0" y="0"/>
                </a:moveTo>
                <a:lnTo>
                  <a:pt x="1612575" y="0"/>
                </a:lnTo>
                <a:lnTo>
                  <a:pt x="1612575" y="2159698"/>
                </a:lnTo>
                <a:lnTo>
                  <a:pt x="0" y="2159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15411" y="7322146"/>
            <a:ext cx="1679846" cy="2037961"/>
          </a:xfrm>
          <a:custGeom>
            <a:avLst/>
            <a:gdLst/>
            <a:ahLst/>
            <a:cxnLst/>
            <a:rect l="l" t="t" r="r" b="b"/>
            <a:pathLst>
              <a:path w="1679846" h="2037961">
                <a:moveTo>
                  <a:pt x="0" y="0"/>
                </a:moveTo>
                <a:lnTo>
                  <a:pt x="1679846" y="0"/>
                </a:lnTo>
                <a:lnTo>
                  <a:pt x="1679846" y="2037961"/>
                </a:lnTo>
                <a:lnTo>
                  <a:pt x="0" y="2037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595" t="-43072" r="-37667" b="-29713"/>
            </a:stretch>
          </a:blipFill>
        </p:spPr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90600" y="734080"/>
            <a:ext cx="69564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of Project: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Agriculture /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AgriTech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136" y="1409700"/>
            <a:ext cx="164626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Project Title:</a:t>
            </a:r>
            <a:r>
              <a:rPr lang="en-US" altLang="en-US" sz="2800" dirty="0">
                <a:latin typeface="Arial" panose="020B0604020202020204" pitchFamily="34" charset="0"/>
              </a:rPr>
              <a:t> KhedutMitra AI — AI-Powered Cotton &amp; Groundnut Market Linkage Platform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3429000" y="419100"/>
            <a:ext cx="10930022" cy="1042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4"/>
              </a:lnSpc>
            </a:pPr>
            <a:r>
              <a:rPr lang="en-US" sz="8300" b="1" spc="-298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" y="1638300"/>
            <a:ext cx="17526000" cy="9022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800" b="1" spc="25" dirty="0">
                <a:solidFill>
                  <a:srgbClr val="131901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Problem Statement: AI-Powered Cotton &amp; Groundnut Market Linkage Platform </a:t>
            </a:r>
            <a:endParaRPr lang="en-US" sz="2800" b="1" spc="25" dirty="0" smtClean="0">
              <a:solidFill>
                <a:srgbClr val="131901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  <a:p>
            <a:pPr>
              <a:lnSpc>
                <a:spcPts val="3500"/>
              </a:lnSpc>
              <a:spcBef>
                <a:spcPct val="0"/>
              </a:spcBef>
            </a:pPr>
            <a:endParaRPr lang="en-US" sz="2800" b="1" spc="25" dirty="0">
              <a:solidFill>
                <a:srgbClr val="131901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Challenge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Gujarat is a leading producer of cotton and groundnut, yet farmers routinely lose income to middlemen, lack access to real-time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prices, and have no direct channel to buyers. Storage and selling decisions are made on guesswork, not data — costing farmers 15–30% of potential earnings every season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Objective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Build an Agentic AI platform that gives farmers real-time price intelligence, direct market linkages, and data-backed selling/storage decisions. The solution should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Real-Time Price Intelligence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Forecast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prices (7/15/30-day) with clear reasoning.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Direct Buyer-Farmer Matching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Rank verified buyers by price, distance, and reliability — no middleman.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Storage vs. Sell Advisory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Recommend the optimal timing to maximize returns.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Quality Grading Assistance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Standardize lot grading (FAQ/A/B/C) for fair pricing.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Multi-Agent System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Price Forecast Agent, Buyer Matching Agent, Storage Advisor Agent, Quality Grading Agent, Income Dashboard Agent — orchestrated together.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Income Dashboard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Track season-over-season earnings vs.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averages.</a:t>
            </a:r>
          </a:p>
          <a:p>
            <a:pPr marL="496572" lvl="1" indent="-248286" algn="just">
              <a:lnSpc>
                <a:spcPts val="3220"/>
              </a:lnSpc>
              <a:buFont typeface="Arial"/>
              <a:buChar char="•"/>
            </a:pPr>
            <a:endParaRPr lang="en-US" sz="2800" spc="23" dirty="0">
              <a:solidFill>
                <a:srgbClr val="13190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800" spc="23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´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800" spc="23" dirty="0">
              <a:solidFill>
                <a:srgbClr val="13190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3141" y="210131"/>
            <a:ext cx="11504275" cy="144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4"/>
              </a:lnSpc>
              <a:spcBef>
                <a:spcPct val="0"/>
              </a:spcBef>
            </a:pPr>
            <a:r>
              <a:rPr lang="en-US" sz="8295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1775683"/>
            <a:ext cx="1551439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AI-Powered Cotton &amp; Groundnut Market Linkage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Multi-agent Agentic AI system built on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IBM Granite LLM + watsonx.ai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with 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+ React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stack — bringing farmers the same market intelligence large traders already have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Price Forecast Agent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Analyzes historical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data to project short-term price trends and explains the key drivers behind them.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Buyer Matching Agent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Connects farmers directly to verified buyers, ranked by price, distance, and reliability; generates negotiation talking points.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Storage Advisor Agent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Weighs storage cost vs. expected price gain to recommend sell-now vs. store-and-wait.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Quality Grading Agent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Estimates produce grade (FAQ/A/B/C) to support fair, standardized pricing.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Income Dashboard Agent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Tracks farmer earnings against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average over the season.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Orchestrator Agent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Routes farmer queries to the right specialist agent, so a simple question like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"Should I sell my cotton today?"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gets a complete, reasoned answer.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IBM Granite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powers reasoning &amp; explanations;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watsonx.ai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ensures scalable deployment and governance; architecture is designed to plug into live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Agmarknet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eNAM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data in 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70250" y="418450"/>
            <a:ext cx="9227299" cy="144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sz="8299" b="1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43000" y="2131786"/>
            <a:ext cx="142494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LangFlow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Visual design &amp; orchestration of the multi-agent workflow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IBM Granite Model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/granite-3-8b-instruct) — Reasoning, forecasting explanations, personalization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IBM watsonx.ai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Model deployment,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AI governance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IBM Cloud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Scalable, secure infrastructure for deployment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RAG (Retrieval-Augmented Generation)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Grounds price/quality answers in real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before generation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Backend orchestration layer for all agents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React.js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Farmer/buyer-facing dashboard and chat interface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Vector Database (FAISS/Chroma)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Retrieval of historical price &amp; buyer data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5733" y="519223"/>
            <a:ext cx="13468350" cy="144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19"/>
              </a:lnSpc>
              <a:spcBef>
                <a:spcPct val="0"/>
              </a:spcBef>
            </a:pPr>
            <a:r>
              <a:rPr lang="en-US" sz="8299" b="1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Langflow component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7800" y="2476500"/>
            <a:ext cx="14859000" cy="5816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Chat Input </a:t>
            </a:r>
            <a:r>
              <a:rPr lang="en-US" sz="2800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— Farmer enters query (crop, quantity, location, question)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IBM </a:t>
            </a:r>
            <a:r>
              <a:rPr lang="en-US" sz="2800" b="1" dirty="0" err="1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watsonx</a:t>
            </a:r>
            <a:r>
              <a:rPr lang="en-US" sz="2800" b="1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AI Agent </a:t>
            </a:r>
            <a:r>
              <a:rPr lang="en-US" sz="2800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— Processes input via Granite to generate forecasts/recommendations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IBM Granite Model </a:t>
            </a:r>
            <a:r>
              <a:rPr lang="en-US" sz="2800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— Granite-3-8B-Instruct → fast, real-time reasoning for price &amp; storage advice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Chat Output </a:t>
            </a:r>
            <a:r>
              <a:rPr lang="en-US" sz="2800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— Displays price forecasts, buyer matches, and storage advice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File Component </a:t>
            </a:r>
            <a:r>
              <a:rPr lang="en-US" sz="2800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— Loads </a:t>
            </a:r>
            <a:r>
              <a:rPr lang="en-US" sz="2800" dirty="0" err="1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mandi</a:t>
            </a:r>
            <a:r>
              <a:rPr lang="en-US" sz="2800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price history, buyer registry, and farmer transaction logs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Orchestrator/Router Component </a:t>
            </a:r>
            <a:r>
              <a:rPr lang="en-US" sz="2800" dirty="0">
                <a:solidFill>
                  <a:srgbClr val="13190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— Directs multi-intent farmer queries to the correct specialist agent</a:t>
            </a:r>
            <a:endParaRPr lang="en-US" sz="2800" dirty="0">
              <a:solidFill>
                <a:srgbClr val="13190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8900" y="2196215"/>
            <a:ext cx="15770201" cy="7774457"/>
          </a:xfrm>
          <a:custGeom>
            <a:avLst/>
            <a:gdLst/>
            <a:ahLst/>
            <a:cxnLst/>
            <a:rect l="l" t="t" r="r" b="b"/>
            <a:pathLst>
              <a:path w="15770201" h="7774457">
                <a:moveTo>
                  <a:pt x="0" y="0"/>
                </a:moveTo>
                <a:lnTo>
                  <a:pt x="15770200" y="0"/>
                </a:lnTo>
                <a:lnTo>
                  <a:pt x="15770200" y="7774457"/>
                </a:lnTo>
                <a:lnTo>
                  <a:pt x="0" y="7774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67" b="-101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37950" y="342900"/>
            <a:ext cx="10053890" cy="144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sz="8299" b="1" dirty="0" err="1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sz="8299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985775" y="266700"/>
            <a:ext cx="1231645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sz="8299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Architecture Blueprint</a:t>
            </a:r>
            <a:endParaRPr lang="en-US" sz="8299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887" y="2095500"/>
            <a:ext cx="13778225" cy="77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6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4413" y="210185"/>
            <a:ext cx="16786027" cy="1446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Role of Agentic AI in the solution 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381000" y="1678067"/>
            <a:ext cx="17678400" cy="849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Role of Agentic AI in the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Agentic AI turns KhedutMitra AI from a static price-lookup tool into an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autonomous decision-support system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farmers.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Powered by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IBM watsonx.ai and Granite models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coordinating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five specialized agents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each handling a distinct task: forecasting prices, matching buyers, advising on storage, grading quality, and tracking income.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Context Awareness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Understands the farmer's crop, location, and quantity to tailor every recommendation.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Adaptation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Continuously updates advice as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prices shift.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Inter-Agent Collaboration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e.g., the Storage Advisor consults the Price Forecast Agent before recommending a wait period.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result: 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proactive market advisor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not a reactive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one that actively helps farmers time their sale and reach the right buyer for maximum income.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99" y="116667"/>
            <a:ext cx="16786027" cy="135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Token Usage</a:t>
            </a:r>
            <a:endParaRPr lang="en-US" sz="83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507" y="1638300"/>
            <a:ext cx="15520987" cy="822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3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9641" y="-38100"/>
            <a:ext cx="11128772" cy="1446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Novelty &amp; Uniqueness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1638300"/>
            <a:ext cx="18288000" cy="8402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Multi-Agent Intelligence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Five specialized agents collaborate instead of one generic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RAG-Grounded Price Accuracy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Forecasts and grading are grounded in real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/buyer data, not hallucinated numbers.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Direct Market Linkage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Goes beyond advice to actually connect farmers with ranked, verified buyers — eliminating the middleman.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Storage Economics Built 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Explicitly models the cost/benefit of waiting vs. selling now, something no existing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app does.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Negotiation Support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Generates ready-to-use negotiation starters, boosting farmer bargaining power.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Regional Focus, National Potential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Purpose-built for Gujarat's cotton &amp; groundnut belt, but architecture generalizes to any crop/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Enterprise-Grade Foundation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Built on IBM watsonx.ai and Granite, ready to scale from prototype to production with governance built in.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makes KhedutMitra AI a complete market-linkage ecosystem, not just another price-checking app.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9641" y="-38100"/>
            <a:ext cx="11128772" cy="135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GitHub Link</a:t>
            </a:r>
            <a:endParaRPr lang="en-US" sz="83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1866900"/>
            <a:ext cx="1507406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Repository: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https://github.com/drashti-bhatia/KhedutMitra-AI---IBM---Challenge-13-AI-Powered-Cotton-Groundnut-Market-Linkage-Platform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Checklist before submission: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app.json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file uploaded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Problem statement PDF uploaded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presentation (.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pptx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uploaded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Any other supporting files uploaded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1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08856" y="1562100"/>
            <a:ext cx="5867400" cy="1358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 smtClean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Dashboard</a:t>
            </a:r>
            <a:endParaRPr lang="en-US" sz="83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49166"/>
            <a:ext cx="11968513" cy="54515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113132"/>
            <a:ext cx="11358912" cy="5173867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23900" y="6073882"/>
            <a:ext cx="5334000" cy="3252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Home </a:t>
            </a:r>
            <a:r>
              <a:rPr lang="en-US" sz="2800" dirty="0"/>
              <a:t>screen showing the KhedutMitra AI logo, tagline, and key </a:t>
            </a:r>
            <a:r>
              <a:rPr lang="en-US" sz="2800" dirty="0" smtClean="0"/>
              <a:t>stats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Grid of six AI Agent Feature cards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08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08855" y="1283904"/>
            <a:ext cx="58674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7200" b="1" dirty="0" smtClean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Price Forecasting</a:t>
            </a:r>
            <a:endParaRPr lang="en-US" sz="72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775" y="5886896"/>
            <a:ext cx="5029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Crop/</a:t>
            </a:r>
            <a:r>
              <a:rPr lang="en-US" sz="2800" dirty="0" err="1"/>
              <a:t>mandi</a:t>
            </a:r>
            <a:r>
              <a:rPr lang="en-US" sz="2800" dirty="0"/>
              <a:t> selection form showing current </a:t>
            </a:r>
            <a:r>
              <a:rPr lang="en-US" sz="2800" dirty="0" smtClean="0"/>
              <a:t>price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Price forecast line chart with Key Price Drivers and an IBM Granite AI insight explaining the trend.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90500"/>
            <a:ext cx="11753850" cy="53537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593298"/>
            <a:ext cx="12308855" cy="560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4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76800" y="266700"/>
            <a:ext cx="92964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8000" b="1" dirty="0" smtClean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Price Forecasting</a:t>
            </a:r>
            <a:endParaRPr lang="en-US" sz="80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752600" y="8748236"/>
            <a:ext cx="159258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Detailed day-by-day forecast table showing predicted price, change vs. current, and confidence score.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15" y="1943100"/>
            <a:ext cx="14052571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01600" y="964463"/>
            <a:ext cx="5867400" cy="2554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8300" b="1" dirty="0" smtClean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Find Buyers</a:t>
            </a:r>
            <a:endParaRPr lang="en-US" sz="83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245603"/>
            <a:ext cx="12058650" cy="54925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77879"/>
            <a:ext cx="12115801" cy="5518621"/>
          </a:xfrm>
          <a:prstGeom prst="rect">
            <a:avLst/>
          </a:prstGeom>
        </p:spPr>
      </p:pic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228600" y="5894087"/>
            <a:ext cx="58388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Buyer-matching input form (crop, quantity, grade, min price) with the "Find Matching Buyers" action.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Ranked buyer match cards showing offered price, match score, and an AI-generated negotiation opener.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4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49200" y="876300"/>
            <a:ext cx="58674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8000" b="1" dirty="0" smtClean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Storage Advisor</a:t>
            </a:r>
            <a:endParaRPr lang="en-US" sz="80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68877" y="6269832"/>
            <a:ext cx="5257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Storage advisory input form with a clear "Sell Now" AI recommendation and reasoning.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Storage trade-off table comparing net benefit across 7/14/21/30-day storage periods.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77" y="266700"/>
            <a:ext cx="12287250" cy="55967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759" y="4467279"/>
            <a:ext cx="12349985" cy="562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3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47733" y="1104900"/>
            <a:ext cx="58674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8000" b="1" dirty="0" smtClean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User Income</a:t>
            </a:r>
            <a:endParaRPr lang="en-US" sz="80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4909" y="5493850"/>
            <a:ext cx="632460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Farmer income dashboard showing total income, savings vs.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average, and direct-sale percentage.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Income-by-crop bar chart, realized vs.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mandi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price comparison, and a transaction history table.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09" y="190500"/>
            <a:ext cx="11201400" cy="51021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473" y="5036632"/>
            <a:ext cx="11139369" cy="507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3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70856" y="754231"/>
            <a:ext cx="521714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80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AI Assistant</a:t>
            </a:r>
            <a:endParaRPr lang="en-US" sz="80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81000" y="5750758"/>
            <a:ext cx="525780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Multilingual chat assistant welcome screen listing what it can help with (forecasts, buyers, storage, grading, income).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Live chat example showing the assistant answering a groundnut price query with a follow-up action link.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0"/>
            <a:ext cx="12192000" cy="54841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4420065"/>
            <a:ext cx="12437642" cy="55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4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96485" y="210185"/>
            <a:ext cx="6735068" cy="1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000" b="1" dirty="0" smtClean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Future Scope</a:t>
            </a:r>
            <a:endParaRPr lang="en-US" sz="80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34519" y="2171700"/>
            <a:ext cx="148590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Agmarknet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eNAM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Replace sample data with live government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price feeds for real-time accuracy across all Gujarat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mandis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&amp; Multilingual Support (Gujarati-first)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Enable farmers to interact via voice in Gujarati and other regional languages, making the platform accessible to non-literate and rural users.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Warehouse Integration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Connect with smart warehouse sensors to track stored produce condition (moisture, temperature) and refine storage recommendations.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FPO &amp; Cooperative Bulk Selling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Extend buyer-matching to Farmer Producer Organizations for collective bargaining power on larger lots.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68649" y="150713"/>
            <a:ext cx="13950702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Certificates </a:t>
            </a: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Earned (</a:t>
            </a:r>
            <a:r>
              <a:rPr lang="en-US" sz="8300" b="1" dirty="0" err="1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credly</a:t>
            </a: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  <a:endParaRPr lang="en-US" sz="83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944"/>
          <a:stretch/>
        </p:blipFill>
        <p:spPr>
          <a:xfrm>
            <a:off x="3733800" y="1900559"/>
            <a:ext cx="10820400" cy="80435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05271" y="303113"/>
            <a:ext cx="15287329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Certificates </a:t>
            </a:r>
            <a:r>
              <a:rPr lang="en-US" sz="8300" b="1" dirty="0">
                <a:solidFill>
                  <a:srgbClr val="6A8D0D"/>
                </a:solidFill>
                <a:latin typeface="Arial Bold"/>
                <a:ea typeface="Arial Bold"/>
                <a:cs typeface="Arial Bold"/>
                <a:sym typeface="Arial Bold"/>
              </a:rPr>
              <a:t>Earned (IBM BOB)</a:t>
            </a:r>
            <a:endParaRPr lang="en-US" sz="8300" b="1" dirty="0">
              <a:solidFill>
                <a:srgbClr val="6A8D0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171700"/>
            <a:ext cx="12264685" cy="75986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0943" y="-4457700"/>
            <a:ext cx="15161650" cy="151616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10200" y="4032317"/>
            <a:ext cx="11013864" cy="171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909"/>
              </a:lnSpc>
            </a:pPr>
            <a:r>
              <a:rPr lang="en-US" sz="13848" b="1" spc="-858" dirty="0">
                <a:gradFill>
                  <a:gsLst>
                    <a:gs pos="0">
                      <a:srgbClr val="85AF13">
                        <a:alpha val="100000"/>
                      </a:srgbClr>
                    </a:gs>
                    <a:gs pos="100000">
                      <a:srgbClr val="C1FF72">
                        <a:alpha val="100000"/>
                      </a:srgbClr>
                    </a:gs>
                  </a:gsLst>
                  <a:lin ang="0"/>
                </a:gra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4836" y="5544679"/>
            <a:ext cx="1371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KhedutMitra 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— Empowering every farmer with the market intelligence that big traders already have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</TotalTime>
  <Words>1310</Words>
  <Application>Microsoft Office PowerPoint</Application>
  <PresentationFormat>Custom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Tw Cen MT</vt:lpstr>
      <vt:lpstr>Arimo</vt:lpstr>
      <vt:lpstr>Times New Roman Bold</vt:lpstr>
      <vt:lpstr>Times New Roman</vt:lpstr>
      <vt:lpstr>Canva Sans Bold</vt:lpstr>
      <vt:lpstr>Arial Bold</vt:lpstr>
      <vt:lpstr>Canva Sans</vt:lpstr>
      <vt:lpstr>Arial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University Engagement Project Submission</dc:title>
  <cp:lastModifiedBy>Drashti Bhatia</cp:lastModifiedBy>
  <cp:revision>20</cp:revision>
  <dcterms:created xsi:type="dcterms:W3CDTF">2006-08-16T00:00:00Z</dcterms:created>
  <dcterms:modified xsi:type="dcterms:W3CDTF">2026-09-06T10:57:56Z</dcterms:modified>
  <dc:identifier>DAHUUvr58N4</dc:identifier>
</cp:coreProperties>
</file>